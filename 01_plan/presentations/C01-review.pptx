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PROBABLE: ¿Por qué no esperaste a tener neumáticos? ¿Calibrar y validar: qué diferencia hay?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PROBABLE: ¿Por qué un solo integrador? ¿Qué valida el −0,6 % y qué NO valida?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PROBABLE: ¿Qué hace el bloque MATLAB? ¿Para qué es el Memory en I_bat?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PROBABLE: ¿Por qué la rodadura es constante y la aero crece con v²? ¿Por qué m_eq no es solo la masa?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PROBABLE: De los ASSUMED, ¿cuál te preocupa más? ¿De dónde sale μ = 0,60?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PROBABLE: ¿Qué pasa desde 9 km/h? ¿Por qué se desploma cerca de 35 km/h? Si patina, ¿el modelo lo 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PROBABLE: ¿Por qué la corriente de batería es menor que la de motor a baja velocidad?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PROBABLE: ¿Cómo sale la banda ±? ¿Son simulaciones o cuentas a mano?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PROBABLE: ¿Por qué la tensión del pack no entra en la banda? ¿Por qué μ manda en el 0→25?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PROBABLE: ¿Por qué desde 30 y no desde 15 km/h? ¿Por qué ida y vuelta?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PROBABLE: G10: tu regla dice 'no saltar niveles'. ¿Por qué motor + inversor sin validar el vehículo?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1_cover.jpg"/>
          <p:cNvPicPr>
            <a:picLocks noChangeAspect="1"/>
          </p:cNvPicPr>
          <p:nvPr/>
        </p:nvPicPr>
        <p:blipFill>
          <a:blip r:embed="rId2"/>
          <a:srcRect l="2766" r="2766"/>
          <a:stretch>
            <a:fillRect/>
          </a:stretch>
        </p:blipFill>
        <p:spPr>
          <a:xfrm>
            <a:off x="0" y="0"/>
            <a:ext cx="416052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60520" y="0"/>
            <a:ext cx="4983480" cy="5143500"/>
          </a:xfrm>
          <a:prstGeom prst="rect">
            <a:avLst/>
          </a:prstGeom>
          <a:solidFill>
            <a:srgbClr val="0F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5156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90872" y="1298448"/>
            <a:ext cx="39959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>
                <a:solidFill>
                  <a:srgbClr val="FFFFFF"/>
                </a:solidFill>
                <a:latin typeface="Arial"/>
              </a:rPr>
              <a:t>LONGITUDINAL
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2670048"/>
            <a:ext cx="39959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Level 1 of the digital twin — built before the vehicle could be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3675887"/>
            <a:ext cx="3995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1" i="0">
                <a:solidFill>
                  <a:srgbClr val="2E9BD6"/>
                </a:solidFill>
                <a:latin typeface="Arial"/>
              </a:rPr>
              <a:t>C01 REVIEW
POL CRUAÑAS  ·  9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1_tyre.jpg"/>
          <p:cNvPicPr>
            <a:picLocks noChangeAspect="1"/>
          </p:cNvPicPr>
          <p:nvPr/>
        </p:nvPicPr>
        <p:blipFill>
          <a:blip r:embed="rId2"/>
          <a:srcRect t="5630" b="5630"/>
          <a:stretch>
            <a:fillRect/>
          </a:stretch>
        </p:blipFill>
        <p:spPr>
          <a:xfrm>
            <a:off x="0" y="438912"/>
            <a:ext cx="2926080" cy="42611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Why a model before the data</a:t>
            </a:r>
          </a:p>
        </p:txBody>
      </p:sp>
      <p:pic>
        <p:nvPicPr>
          <p:cNvPr id="5" name="Picture 4" descr="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C01 review  · 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621792"/>
            <a:ext cx="5340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81F"/>
                </a:solidFill>
                <a:latin typeface="Arial"/>
              </a:rPr>
              <a:t>The coast-down could not run: both tyres punctured, and the logger's ESP32 was lost to a ground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6976" y="1581912"/>
            <a:ext cx="534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480"/>
                </a:solidFill>
                <a:latin typeface="Arial"/>
              </a:rPr>
              <a:t>C01 PLAN · SEPTEMBER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6976" y="1819656"/>
            <a:ext cx="141732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6976" y="181965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B7480"/>
                </a:solidFill>
                <a:latin typeface="Arial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1819656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B7480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28616" y="1819656"/>
            <a:ext cx="141732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8616" y="181965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B7480"/>
                </a:solidFill>
                <a:latin typeface="Arial"/>
              </a:rPr>
              <a:t>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1819656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B7480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0256" y="1819656"/>
            <a:ext cx="141732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181965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B7480"/>
                </a:solidFill>
                <a:latin typeface="Arial"/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6976" y="2587752"/>
            <a:ext cx="534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9C"/>
                </a:solidFill>
                <a:latin typeface="Arial"/>
              </a:rPr>
              <a:t>DONE · AFTER THE PIVOT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36976" y="2825496"/>
            <a:ext cx="1417320" cy="457200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2549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825496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B7480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28616" y="2825496"/>
            <a:ext cx="1417320" cy="457200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8616" y="282549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predict + freeze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2825496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B7480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0256" y="2825496"/>
            <a:ext cx="141732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0256" y="282549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measure → C02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36976" y="4187952"/>
            <a:ext cx="5340096" cy="384048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9856" y="4187952"/>
            <a:ext cx="4974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Written down first, so the test can prove it wrong.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model: four blocks, one state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C01 review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pic>
        <p:nvPicPr>
          <p:cNvPr id="8" name="Picture 7" descr="fig_c01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03" y="859536"/>
            <a:ext cx="7831393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5661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9C"/>
                </a:solidFill>
                <a:latin typeface="Arial"/>
              </a:rPr>
              <a:t>SANITY CHECK · MOTOR ONLY, WHEELS IN THE AIR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03904"/>
            <a:ext cx="2548128" cy="6400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831335"/>
            <a:ext cx="225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4E9C"/>
                </a:solidFill>
                <a:latin typeface="Arial"/>
              </a:rPr>
              <a:t>5448 rpm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33087"/>
            <a:ext cx="225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model, wheels in the air, 52.77 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7936" y="3803904"/>
            <a:ext cx="2548128" cy="6400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4240" y="3831335"/>
            <a:ext cx="225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4E9C"/>
                </a:solidFill>
                <a:latin typeface="Arial"/>
              </a:rPr>
              <a:t>5480 rpm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4240" y="4133087"/>
            <a:ext cx="225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measured, C00 no-load (16 440 ERPM ÷ 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28944" y="3803904"/>
            <a:ext cx="2548128" cy="640080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5248" y="3831335"/>
            <a:ext cx="225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4E9C"/>
                </a:solidFill>
                <a:latin typeface="Arial"/>
              </a:rPr>
              <a:t>−0.6 %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5248" y="4133087"/>
            <a:ext cx="225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λm + voltage ceiling + drag — not the vehicle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same model in Simulink (L1)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C01 review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pic>
        <p:nvPicPr>
          <p:cNvPr id="8" name="Picture 7" descr="C01_model_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285268"/>
            <a:ext cx="8375904" cy="24037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425696"/>
            <a:ext cx="8010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Built by script (build_longitudinal_L1.m): every block and wire is text in Git. L2 = same physics in 4 subsystems, identical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force balance, with numbers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C01 review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896112"/>
            <a:ext cx="8010144" cy="512064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896112"/>
            <a:ext cx="801014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D4E9C"/>
                </a:solidFill>
                <a:latin typeface="Cambria Math"/>
              </a:rPr>
              <a:t>m_eq · dv/dt  =  F_wheel  −  F_roll  −  F_aero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49961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7480"/>
                </a:solidFill>
                <a:latin typeface="Arial"/>
              </a:rPr>
              <a:t>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7944" y="149961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7480"/>
                </a:solidFill>
                <a:latin typeface="Arial"/>
              </a:rPr>
              <a:t>LAW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3" y="1499616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7480"/>
                </a:solidFill>
                <a:latin typeface="Arial"/>
              </a:rP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6983" y="1499616"/>
            <a:ext cx="31181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7480"/>
                </a:solidFill>
                <a:latin typeface="Arial"/>
              </a:rPr>
              <a:t>INPUTS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755648"/>
            <a:ext cx="8010144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755648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D4E9C"/>
                </a:solidFill>
                <a:latin typeface="Arial"/>
              </a:rPr>
              <a:t>F_wheel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7944" y="1755648"/>
            <a:ext cx="21488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4181F"/>
                </a:solidFill>
                <a:latin typeface="Cambria Math"/>
              </a:rPr>
              <a:t>T · i · η / r_roll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3" y="1755648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81F"/>
                </a:solidFill>
                <a:latin typeface="Arial"/>
              </a:rPr>
              <a:t>≤ 463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6983" y="1755648"/>
            <a:ext cx="29352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480"/>
                </a:solidFill>
                <a:latin typeface="Arial"/>
              </a:rPr>
              <a:t>i = 8.36 · η = 0.95 · r = 0.155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176272"/>
            <a:ext cx="801014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176272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D4E9C"/>
                </a:solidFill>
                <a:latin typeface="Arial"/>
              </a:rPr>
              <a:t>F_roll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37944" y="2176272"/>
            <a:ext cx="21488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4181F"/>
                </a:solidFill>
                <a:latin typeface="Cambria Math"/>
              </a:rPr>
              <a:t>Crr · m · 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9663" y="2176272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81F"/>
                </a:solidFill>
                <a:latin typeface="Arial"/>
              </a:rPr>
              <a:t>32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6983" y="2176272"/>
            <a:ext cx="29352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480"/>
                </a:solidFill>
                <a:latin typeface="Arial"/>
              </a:rPr>
              <a:t>Crr = 0.030 · m = 110 kg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96896"/>
            <a:ext cx="8010144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2596896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D4E9C"/>
                </a:solidFill>
                <a:latin typeface="Arial"/>
              </a:rPr>
              <a:t>F_aero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37944" y="2596896"/>
            <a:ext cx="21488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4181F"/>
                </a:solidFill>
                <a:latin typeface="Cambria Math"/>
              </a:rPr>
              <a:t>½ · ρ · CdA · v²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9663" y="2596896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81F"/>
                </a:solidFill>
                <a:latin typeface="Arial"/>
              </a:rPr>
              <a:t>25 N at 30 km/h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6983" y="2596896"/>
            <a:ext cx="29352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480"/>
                </a:solidFill>
                <a:latin typeface="Arial"/>
              </a:rPr>
              <a:t>CdA = 0.60 m² · ρ = 1.20 kg/m³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017520"/>
            <a:ext cx="801014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3017520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D4E9C"/>
                </a:solidFill>
                <a:latin typeface="Arial"/>
              </a:rPr>
              <a:t>grip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37944" y="3017520"/>
            <a:ext cx="21488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4181F"/>
                </a:solidFill>
                <a:latin typeface="Cambria Math"/>
              </a:rPr>
              <a:t>μ · N_rear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9663" y="3017520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81F"/>
                </a:solidFill>
                <a:latin typeface="Arial"/>
              </a:rPr>
              <a:t>421 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6983" y="3017520"/>
            <a:ext cx="29352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480"/>
                </a:solidFill>
                <a:latin typeface="Arial"/>
              </a:rPr>
              <a:t>μ = 0.60 (dirt) · rear share 0.65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438144"/>
            <a:ext cx="8010144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3438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D4E9C"/>
                </a:solidFill>
                <a:latin typeface="Arial"/>
              </a:rPr>
              <a:t>m_eq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37944" y="3438144"/>
            <a:ext cx="21488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4181F"/>
                </a:solidFill>
                <a:latin typeface="Cambria Math"/>
              </a:rPr>
              <a:t>m + J_wheels/r² + J_rotor·i²/r²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9663" y="3438144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81F"/>
                </a:solidFill>
                <a:latin typeface="Arial"/>
              </a:rPr>
              <a:t>114.5 kg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86983" y="3438144"/>
            <a:ext cx="29352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480"/>
                </a:solidFill>
                <a:latin typeface="Arial"/>
              </a:rPr>
              <a:t>110 + 4 wheels (ASSUMED) + 0.45 rotor (MEASURED)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187952"/>
            <a:ext cx="8010144" cy="384048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187952"/>
            <a:ext cx="76443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At top speed, rolling and aero are about equal. Below it, rolling resistance dominates.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Where every number comes from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C01 review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896112"/>
            <a:ext cx="1892807" cy="274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896112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MEASURED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25296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225296"/>
            <a:ext cx="45720" cy="4206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261872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pole pairs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141732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1435608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Hall 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00784"/>
            <a:ext cx="45720" cy="4206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1737360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flux linkage λm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189280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16.9 mWb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1911096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scope, 3 methods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176272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176272"/>
            <a:ext cx="45720" cy="4206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2212848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rotor drag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36829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63 mN·m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2386584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spin-down, + viscous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651760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2651760"/>
            <a:ext cx="45720" cy="4206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2688336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masses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2843784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38 + 72 kg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2862072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127248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127248"/>
            <a:ext cx="45720" cy="4206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163824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gear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331927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92/11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3337560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teeth counted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896112"/>
            <a:ext cx="1892807" cy="274320"/>
          </a:xfrm>
          <a:prstGeom prst="rect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6040" y="896112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VESC ESTIMATE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1225296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06040" y="1225296"/>
            <a:ext cx="45720" cy="420624"/>
          </a:xfrm>
          <a:prstGeom prst="rect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34056" y="1261872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phase resistance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34056" y="141732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28 mΩ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1435608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detection, 3 runs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1700784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06040" y="1700784"/>
            <a:ext cx="45720" cy="420624"/>
          </a:xfrm>
          <a:prstGeom prst="rect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34056" y="1737360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inductance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34056" y="189280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106 µH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40" y="1911096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detection, 3 runs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45152" y="896112"/>
            <a:ext cx="1892807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5152" y="896112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45152" y="1225296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45152" y="1225296"/>
            <a:ext cx="45720" cy="4206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73168" y="1261872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motor current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73168" y="141732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120 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9552" y="1435608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typed in VESC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45152" y="1700784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45152" y="1700784"/>
            <a:ext cx="45720" cy="4206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73168" y="1737360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battery current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73168" y="189280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40 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9552" y="1911096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= BMS rating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45152" y="2176272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45152" y="2176272"/>
            <a:ext cx="45720" cy="4206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73168" y="2212848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max duty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73168" y="236829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0.95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9552" y="2386584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typed in VESC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45152" y="2651760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645152" y="2651760"/>
            <a:ext cx="45720" cy="4206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73168" y="2688336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throttle ramp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73168" y="2843784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0.3 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9552" y="2862072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typed in VESC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84264" y="896112"/>
            <a:ext cx="1892807" cy="27432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84264" y="896112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ASSUMED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84264" y="1225296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84264" y="1225296"/>
            <a:ext cx="45720" cy="420624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12279" y="1261872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rolling radius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12279" y="141732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0.155 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98663" y="1435608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13 in, −6 % squash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84264" y="1700784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84264" y="1700784"/>
            <a:ext cx="45720" cy="420624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12279" y="1737360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Crr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12279" y="189280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0.030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98663" y="1911096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soft knobby tyre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84264" y="2176272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684264" y="2176272"/>
            <a:ext cx="45720" cy="420624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12279" y="2212848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CdA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12279" y="236829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0.60 m²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98663" y="2386584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upright rider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84264" y="2651760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684264" y="2651760"/>
            <a:ext cx="45720" cy="420624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79" y="2688336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grip μ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12279" y="2843784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0.60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663" y="2862072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dirt, no tyre data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84264" y="3127248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684264" y="3127248"/>
            <a:ext cx="45720" cy="420624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812279" y="3163824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chain η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79" y="331927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0.95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598663" y="3337560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roller chain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684264" y="3602736"/>
            <a:ext cx="1892807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684264" y="3602736"/>
            <a:ext cx="45720" cy="420624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12279" y="3639312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480"/>
                </a:solidFill>
                <a:latin typeface="Arial"/>
              </a:rPr>
              <a:t>pack R_int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12279" y="379476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0.10 Ω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98663" y="3813048"/>
            <a:ext cx="92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6B7480"/>
                </a:solidFill>
                <a:latin typeface="Arial"/>
              </a:rPr>
              <a:t>no datasheet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6928" y="4187952"/>
            <a:ext cx="8010144" cy="384048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4187952"/>
            <a:ext cx="76443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Every ASSUMED value carries a range. The sensitivity sweep runs over exactly those ranges.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Where the limits are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C01 review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pic>
        <p:nvPicPr>
          <p:cNvPr id="8" name="Picture 7" descr="fig_c01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1016126"/>
            <a:ext cx="4983480" cy="274091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0136" y="896112"/>
            <a:ext cx="2916935" cy="9144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0136" y="896112"/>
            <a:ext cx="54864" cy="914400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4728" y="969264"/>
            <a:ext cx="26791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4E9C"/>
                </a:solidFill>
                <a:latin typeface="Arial"/>
              </a:rPr>
              <a:t>MOTOR 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4728" y="1207008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181F"/>
                </a:solidFill>
                <a:latin typeface="Cambria Math"/>
              </a:rPr>
              <a:t>iq ≤ 120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1517904"/>
            <a:ext cx="26791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T = 3/2·p·λm·iq = 9.1 N·m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0136" y="1901952"/>
            <a:ext cx="2916935" cy="9144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136" y="1901952"/>
            <a:ext cx="54864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1975104"/>
            <a:ext cx="26791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0392B"/>
                </a:solidFill>
                <a:latin typeface="Arial"/>
              </a:rPr>
              <a:t>BATTERY CURRENT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2212848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181F"/>
                </a:solidFill>
                <a:latin typeface="Cambria Math"/>
              </a:rPr>
              <a:t>I_bat ≤ 40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2523744"/>
            <a:ext cx="26791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≈ 1.8 kW, from 9 km/h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2907792"/>
            <a:ext cx="2916935" cy="9144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0136" y="2907792"/>
            <a:ext cx="54864" cy="914400"/>
          </a:xfrm>
          <a:prstGeom prst="rect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4728" y="2980944"/>
            <a:ext cx="26791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29A2C"/>
                </a:solidFill>
                <a:latin typeface="Arial"/>
              </a:rPr>
              <a:t>VOLTAGE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4728" y="3218688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181F"/>
                </a:solidFill>
                <a:latin typeface="Cambria Math"/>
              </a:rPr>
              <a:t>|v| ≤ 0.95 · V_bat / √3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4728" y="3529584"/>
            <a:ext cx="26791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C00 check: 28.9 V reached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187952"/>
            <a:ext cx="8010144" cy="384048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187952"/>
            <a:ext cx="76443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On dirt the tyre limits the launch (421 N &lt; 463 N). From 9 km/h: the battery. At the top: voltage.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Motor current is not battery current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C01 review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pic>
        <p:nvPicPr>
          <p:cNvPr id="8" name="Picture 7" descr="fig_c01_curr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859536"/>
            <a:ext cx="5486400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90488" y="896112"/>
            <a:ext cx="2386584" cy="95097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896112"/>
            <a:ext cx="54864" cy="950976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950976"/>
            <a:ext cx="214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4E9C"/>
                </a:solidFill>
                <a:latin typeface="Arial"/>
              </a:rPr>
              <a:t>POWER IS CONSERVED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170432"/>
            <a:ext cx="2148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4181F"/>
                </a:solidFill>
                <a:latin typeface="Arial"/>
              </a:rPr>
              <a:t>V_bat · I_bat ≈ 3/2 · v_q · iq. Low speed → low motor voltage → 120 A of motor is little battery current.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920240"/>
            <a:ext cx="2386584" cy="95097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920240"/>
            <a:ext cx="54864" cy="9509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75104"/>
            <a:ext cx="214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0392B"/>
                </a:solidFill>
                <a:latin typeface="Arial"/>
              </a:rPr>
              <a:t>FROM 9 KM/H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94560"/>
            <a:ext cx="2148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4181F"/>
                </a:solidFill>
                <a:latin typeface="Arial"/>
              </a:rPr>
              <a:t>The battery reaches 40 A. The VESC cuts iq so it stays there: constant power.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2944368"/>
            <a:ext cx="2386584" cy="95097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2944368"/>
            <a:ext cx="54864" cy="950976"/>
          </a:xfrm>
          <a:prstGeom prst="rect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999232"/>
            <a:ext cx="214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29A2C"/>
                </a:solidFill>
                <a:latin typeface="Arial"/>
              </a:rPr>
              <a:t>NEAR THE 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18688"/>
            <a:ext cx="2148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4181F"/>
                </a:solidFill>
                <a:latin typeface="Arial"/>
              </a:rPr>
              <a:t>The back-EMF reaches the voltage the inverter can make. No voltage left to push current: iq collapses.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Predictions, frozen before the test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C01 review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896112"/>
            <a:ext cx="1892807" cy="713232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950976"/>
            <a:ext cx="16733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4E9C"/>
                </a:solidFill>
                <a:latin typeface="Arial"/>
              </a:rPr>
              <a:t>34.2 ± 1.2 km/h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316736"/>
            <a:ext cx="16733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top speed, at 50 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896112"/>
            <a:ext cx="1892807" cy="713232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950976"/>
            <a:ext cx="16733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4E9C"/>
                </a:solidFill>
                <a:latin typeface="Arial"/>
              </a:rPr>
              <a:t>2.8 ± 0.5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1316736"/>
            <a:ext cx="16733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0 → 25 km/h, full throttle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5152" y="896112"/>
            <a:ext cx="1892807" cy="713232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950976"/>
            <a:ext cx="16733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4E9C"/>
                </a:solidFill>
                <a:latin typeface="Arial"/>
              </a:rPr>
              <a:t>17.2 ± 5.6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316736"/>
            <a:ext cx="16733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coast-down 30 → 5 km/h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84264" y="896112"/>
            <a:ext cx="1892807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950976"/>
            <a:ext cx="16733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4E9C"/>
                </a:solidFill>
                <a:latin typeface="Arial"/>
              </a:rPr>
              <a:t>9.0 ± 0.6 km/h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1316736"/>
            <a:ext cx="16733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where the 40 A limit starts</a:t>
            </a:r>
          </a:p>
        </p:txBody>
      </p:sp>
      <p:pic>
        <p:nvPicPr>
          <p:cNvPr id="20" name="Picture 19" descr="fig_c01_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11" y="1700784"/>
            <a:ext cx="8002576" cy="2578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4425696"/>
            <a:ext cx="8010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Two simulated manoeuvres. Shaded: every parameter at the ends of its range, one at a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What moves the predictions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C01 review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pic>
        <p:nvPicPr>
          <p:cNvPr id="8" name="Picture 7" descr="fig_c01_torn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888492"/>
            <a:ext cx="8010144" cy="24475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3438144"/>
            <a:ext cx="2548128" cy="8229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2218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9C"/>
                </a:solidFill>
                <a:latin typeface="Arial"/>
              </a:rPr>
              <a:t>TOP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22189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Pack voltage moves it 31–37 km/h. Measure V_bat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7936" y="3438144"/>
            <a:ext cx="2548128" cy="8229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2528" y="3493008"/>
            <a:ext cx="2218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9C"/>
                </a:solidFill>
                <a:latin typeface="Arial"/>
              </a:rPr>
              <a:t>0 → 25 KM/H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2528" y="3730752"/>
            <a:ext cx="22189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Grip μ is 60 % of the spread. On dirt the tyre, not the motor.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8944" y="3438144"/>
            <a:ext cx="2548128" cy="822960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3536" y="3493008"/>
            <a:ext cx="2218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9C"/>
                </a:solidFill>
                <a:latin typeface="Arial"/>
              </a:rPr>
              <a:t>COAST-DOWN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3536" y="3730752"/>
            <a:ext cx="22189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Crr is 96 % of the spread. The first thing to measure.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25696"/>
            <a:ext cx="8010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* pack voltage is a test condition, not an unknown — it is measured, so it stays out of the band.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Designing the tests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C01 review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pic>
        <p:nvPicPr>
          <p:cNvPr id="8" name="Picture 7" descr="fig_c01_coast_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899125"/>
            <a:ext cx="3611880" cy="23805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328416"/>
            <a:ext cx="3611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Start the coast-down as high as the quad reaches: CdA shows 5× more at 30 than at 15 km/h — still small next to Crr.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896112"/>
            <a:ext cx="4169663" cy="11704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896112"/>
            <a:ext cx="54864" cy="117043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96926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D4E9C"/>
                </a:solidFill>
                <a:latin typeface="Arial"/>
              </a:rPr>
              <a:t>RUN 1 · FULL THROTTLE, 0 → TOP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26187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81F"/>
                </a:solidFill>
                <a:latin typeface="Arial"/>
              </a:rPr>
              <a:t>Checks: top speed · 0 → 25 km/h · battery limit at 9 km/h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29809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480"/>
                </a:solidFill>
                <a:latin typeface="Arial"/>
              </a:rPr>
              <a:t>GPS + VESC log · V_bat before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4031" y="1737360"/>
            <a:ext cx="512064" cy="155448"/>
          </a:xfrm>
          <a:prstGeom prst="roundRect">
            <a:avLst>
              <a:gd name="adj" fmla="val 34000"/>
            </a:avLst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tyres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1737360"/>
            <a:ext cx="574243" cy="155448"/>
          </a:xfrm>
          <a:prstGeom prst="roundRect">
            <a:avLst>
              <a:gd name="adj" fmla="val 34000"/>
            </a:avLst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logger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2176272"/>
            <a:ext cx="4169663" cy="11704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7408" y="2176272"/>
            <a:ext cx="54864" cy="117043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2494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E9BD6"/>
                </a:solidFill>
                <a:latin typeface="Arial"/>
              </a:rPr>
              <a:t>RUN 2 · COAST-DOWN, 30 → 5 KM/H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54203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81F"/>
                </a:solidFill>
                <a:latin typeface="Arial"/>
              </a:rPr>
              <a:t>Checks: coast time. Then fits Crr (CdA only weakly)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017520"/>
            <a:ext cx="29809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480"/>
                </a:solidFill>
                <a:latin typeface="Arial"/>
              </a:rPr>
              <a:t>VESC log: speed vs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14031" y="3017520"/>
            <a:ext cx="512064" cy="155448"/>
          </a:xfrm>
          <a:prstGeom prst="roundRect">
            <a:avLst>
              <a:gd name="adj" fmla="val 34000"/>
            </a:avLst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tyres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99248" y="3017520"/>
            <a:ext cx="574243" cy="155448"/>
          </a:xfrm>
          <a:prstGeom prst="roundRect">
            <a:avLst>
              <a:gd name="adj" fmla="val 34000"/>
            </a:avLst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logger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187952"/>
            <a:ext cx="8010144" cy="384048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187952"/>
            <a:ext cx="76443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Every run in both directions: slope and wind cancel in the average.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What is in the model, and what is next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C01 review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77824"/>
            <a:ext cx="8010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81F"/>
                </a:solidFill>
                <a:latin typeface="Arial"/>
              </a:rPr>
              <a:t>Level 1 answers “how fast, how quick”. It cannot answer “how much does it slip”.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61872"/>
            <a:ext cx="2535936" cy="310896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61872"/>
            <a:ext cx="22433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IN NOW · LEVEL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2535936" cy="18470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64208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force balance + grip 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02536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3 limits on iq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40864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rotor drag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79191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throttle ramp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pack R_int sag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4032" y="1261872"/>
            <a:ext cx="2535936" cy="310896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0336" y="1261872"/>
            <a:ext cx="22433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NEXT · TYRES + LEVEL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04032" y="1572768"/>
            <a:ext cx="2535936" cy="18470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8624" y="1664208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new tyres → check predictions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8624" y="2002536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load transfer (needs h_cg)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8624" y="2340864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launch-control hook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8624" y="2679191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tyre pressure → Crr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41136" y="1261872"/>
            <a:ext cx="2535936" cy="310896"/>
          </a:xfrm>
          <a:prstGeom prst="rect">
            <a:avLst/>
          </a:prstGeom>
          <a:solidFill>
            <a:srgbClr val="0F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7440" y="1261872"/>
            <a:ext cx="22433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C02 · MOTOR + INVERTER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1136" y="1572768"/>
            <a:ext cx="2535936" cy="18470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5728" y="1664208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dq machine: Clarke, Park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5728" y="2002536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current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28" y="2340864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inverter losses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5728" y="2679191"/>
            <a:ext cx="220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4181F"/>
                </a:solidFill>
                <a:latin typeface="Arial"/>
              </a:rPr>
              <a:t>—  temperature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49300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480"/>
                </a:solidFill>
                <a:latin typeface="Arial"/>
              </a:rPr>
              <a:t>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33856" y="3511296"/>
            <a:ext cx="1196035" cy="155448"/>
          </a:xfrm>
          <a:prstGeom prst="roundRect">
            <a:avLst>
              <a:gd name="adj" fmla="val 34000"/>
            </a:avLst>
          </a:prstGeom>
          <a:solidFill>
            <a:srgbClr val="0F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traction 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03043" y="3511296"/>
            <a:ext cx="1071676" cy="155448"/>
          </a:xfrm>
          <a:prstGeom prst="roundRect">
            <a:avLst>
              <a:gd name="adj" fmla="val 34000"/>
            </a:avLst>
          </a:prstGeom>
          <a:solidFill>
            <a:srgbClr val="0F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launch 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47871" y="3511296"/>
            <a:ext cx="387705" cy="155448"/>
          </a:xfrm>
          <a:prstGeom prst="roundRect">
            <a:avLst>
              <a:gd name="adj" fmla="val 34000"/>
            </a:avLst>
          </a:prstGeom>
          <a:solidFill>
            <a:srgbClr val="0F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MPC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187952"/>
            <a:ext cx="8010144" cy="384048"/>
          </a:xfrm>
          <a:prstGeom prst="rect">
            <a:avLst/>
          </a:prstGeom>
          <a:solidFill>
            <a:srgbClr val="0F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187952"/>
            <a:ext cx="76443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For you: 120 A motor and 40 A battery were typed in. How would you derive them?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