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lf_field.jpg"/>
          <p:cNvPicPr>
            <a:picLocks noChangeAspect="1"/>
          </p:cNvPicPr>
          <p:nvPr/>
        </p:nvPicPr>
        <p:blipFill>
          <a:blip r:embed="rId2"/>
          <a:srcRect l="678" r="678"/>
          <a:stretch>
            <a:fillRect/>
          </a:stretch>
        </p:blipFill>
        <p:spPr>
          <a:xfrm>
            <a:off x="0" y="0"/>
            <a:ext cx="416052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60520" y="0"/>
            <a:ext cx="4983480" cy="5143500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0872" y="1298448"/>
            <a:ext cx="39959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>
                <a:solidFill>
                  <a:srgbClr val="FFFFFF"/>
                </a:solidFill>
                <a:latin typeface="Arial"/>
              </a:rPr>
              <a:t>OFF-ROAD
EV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2670048"/>
            <a:ext cx="39959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Powertrain modelling, control and validation on a real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3675887"/>
            <a:ext cx="3995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1" i="0">
                <a:solidFill>
                  <a:srgbClr val="2E9BD6"/>
                </a:solidFill>
                <a:latin typeface="Arial"/>
              </a:rPr>
              <a:t>KICKOFF REVIEW
POL CRUAÑAS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ip_quad.jpg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0" y="0"/>
            <a:ext cx="9144000" cy="13373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3731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7310"/>
            <a:ext cx="801014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this project is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" cy="1188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04238"/>
            <a:ext cx="80101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4181F"/>
                </a:solidFill>
                <a:latin typeface="Arial"/>
              </a:rPr>
              <a:t>An electric mini-quad, used as a bench for power electronics, machines and control. The hardware is finished — the work is modelling it and controlling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61438"/>
            <a:ext cx="2523744" cy="896112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8031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THE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45486"/>
            <a:ext cx="223113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81F"/>
                </a:solidFill>
                <a:latin typeface="Arial"/>
              </a:rPr>
              <a:t>The vehicle.
It exists and it runs.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361438"/>
            <a:ext cx="2523744" cy="89611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48031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THE DIGITAL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745486"/>
            <a:ext cx="223113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81F"/>
                </a:solidFill>
                <a:latin typeface="Arial"/>
              </a:rPr>
              <a:t>A Simulink model,
parameterised from measurements.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361438"/>
            <a:ext cx="2523744" cy="89611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48031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THE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745486"/>
            <a:ext cx="223113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81F"/>
                </a:solidFill>
                <a:latin typeface="Arial"/>
              </a:rPr>
              <a:t>A two-week cycle,
closed by a review with 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48990"/>
            <a:ext cx="3867911" cy="118872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86150"/>
            <a:ext cx="3538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9C"/>
                </a:solidFill>
                <a:latin typeface="Arial"/>
              </a:rPr>
              <a:t>WHAT ALREADY TRANSFERS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51326"/>
            <a:ext cx="3538727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Test benches and measurement campaigns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Torque and efficiency maps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Correlating a model against real hardware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3348990"/>
            <a:ext cx="3867911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1" y="3486150"/>
            <a:ext cx="3538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392B"/>
                </a:solidFill>
                <a:latin typeface="Arial"/>
              </a:rPr>
              <a:t>WHAT DOES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1" y="3751326"/>
            <a:ext cx="3538727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Power electronics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Electric machines in the rotating dq frame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Embedded control and software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lf_field.jpg"/>
          <p:cNvPicPr>
            <a:picLocks noChangeAspect="1"/>
          </p:cNvPicPr>
          <p:nvPr/>
        </p:nvPicPr>
        <p:blipFill>
          <a:blip r:embed="rId2"/>
          <a:srcRect l="5511" r="5511"/>
          <a:stretch>
            <a:fillRect/>
          </a:stretch>
        </p:blipFill>
        <p:spPr>
          <a:xfrm>
            <a:off x="0" y="438912"/>
            <a:ext cx="3108960" cy="42611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vehicle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603504"/>
            <a:ext cx="51572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Nitro Motors mini-quad: 36 V lead-acid → 48 V lithium.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859536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914400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Mass, with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097280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≈ 112 kg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859536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914400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Wheels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097280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13 × 5.00-6  ·  r ≈ 0.155 m loaded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1426464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481328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Final 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664208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chain 25H  ·  11T / 92T = 8.36:1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426464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481328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Battery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1664208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13S5P Li-ion  ·  48.1 V  ·  ~13 Ah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9856" y="1993392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0482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231136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48 V PMSM  ·  ~1.9 kW  ·  3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1993392"/>
            <a:ext cx="2468879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20482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Peak wheel torque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231136"/>
            <a:ext cx="21762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76 N·m at 120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2596896"/>
            <a:ext cx="5157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WHY 92 TEETH</a:t>
            </a:r>
          </a:p>
        </p:txBody>
      </p:sp>
      <p:pic>
        <p:nvPicPr>
          <p:cNvPr id="29" name="Picture 28" descr="fig_gea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954" y="2798063"/>
            <a:ext cx="4623018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System architecture — as it is today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pic>
        <p:nvPicPr>
          <p:cNvPr id="8" name="Picture 7" descr="fig_arch_to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96539"/>
            <a:ext cx="8010144" cy="30178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4151376"/>
            <a:ext cx="8010144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151376"/>
            <a:ext cx="764438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4181F"/>
                </a:solidFill>
                <a:latin typeface="Arial"/>
              </a:rPr>
              <a:t>The twist grip drives the inverter directly. Nothing sits between the driver and the torque, and nothing records what happens under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System architecture — where it is going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pic>
        <p:nvPicPr>
          <p:cNvPr id="8" name="Picture 7" descr="fig_arch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96539"/>
            <a:ext cx="8010144" cy="30178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4151376"/>
            <a:ext cx="8010144" cy="42062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151376"/>
            <a:ext cx="764438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A vehicle control unit takes the driver inputs — brakes included — and sends a torque request over CAN.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powertrain, component by component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32688"/>
            <a:ext cx="249935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half_pack.jpg"/>
          <p:cNvPicPr>
            <a:picLocks noChangeAspect="1"/>
          </p:cNvPicPr>
          <p:nvPr/>
        </p:nvPicPr>
        <p:blipFill>
          <a:blip r:embed="rId3"/>
          <a:srcRect t="25212" b="25212"/>
          <a:stretch>
            <a:fillRect/>
          </a:stretch>
        </p:blipFill>
        <p:spPr>
          <a:xfrm>
            <a:off x="621792" y="987552"/>
            <a:ext cx="2389631" cy="14447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596896"/>
            <a:ext cx="2499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D4E9C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07792"/>
            <a:ext cx="2316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13S5P Li-ion · 65 cells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48.1 V · ~13 Ah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JK smart BMS · 40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84448"/>
            <a:ext cx="2499359" cy="10789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694176"/>
            <a:ext cx="222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4E9C"/>
                </a:solidFill>
                <a:latin typeface="Arial"/>
              </a:rPr>
              <a:t>WHY THIS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59352"/>
            <a:ext cx="2225040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Configurable and observable: every cell voltage readable from the phone while the vehicle runs.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2319" y="932688"/>
            <a:ext cx="249935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vesc_flipsky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3" y="987552"/>
            <a:ext cx="1444752" cy="1444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22319" y="2596896"/>
            <a:ext cx="2499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D4E9C"/>
                </a:solidFill>
                <a:latin typeface="Arial"/>
              </a:rPr>
              <a:t>INVERTER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3759" y="2907792"/>
            <a:ext cx="2316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Flipsky FSESC 6.7 Mini Pro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70 A cont. · 200 A peak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FOC · 30 kHz · CAN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2319" y="3584448"/>
            <a:ext cx="2499359" cy="1078992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9479" y="3694176"/>
            <a:ext cx="222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4E9C"/>
                </a:solidFill>
                <a:latin typeface="Arial"/>
              </a:rPr>
              <a:t>WHY THIS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79" y="3959352"/>
            <a:ext cx="2225040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Open source. I can read the firmware line that computes the torque, and export the whole configuration to XML — which is what parameterises the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7711" y="932688"/>
            <a:ext cx="2499359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half_motor.jpg"/>
          <p:cNvPicPr>
            <a:picLocks noChangeAspect="1"/>
          </p:cNvPicPr>
          <p:nvPr/>
        </p:nvPicPr>
        <p:blipFill>
          <a:blip r:embed="rId5"/>
          <a:srcRect t="25212" b="25212"/>
          <a:stretch>
            <a:fillRect/>
          </a:stretch>
        </p:blipFill>
        <p:spPr>
          <a:xfrm>
            <a:off x="6132575" y="987552"/>
            <a:ext cx="2389631" cy="1444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7711" y="2596896"/>
            <a:ext cx="2499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D4E9C"/>
                </a:solidFill>
                <a:latin typeface="Arial"/>
              </a:rPr>
              <a:t>MOTOR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9151" y="2907792"/>
            <a:ext cx="2316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48 V PMSM · ~1.9 kW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3 pole pairs · Hall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950" b="0" i="0">
                <a:solidFill>
                  <a:srgbClr val="14181F"/>
                </a:solidFill>
                <a:latin typeface="Arial"/>
              </a:rPr>
              <a:t>—  Urban Fox scooter donor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7711" y="3584448"/>
            <a:ext cx="2499359" cy="10789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4871" y="3694176"/>
            <a:ext cx="222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4E9C"/>
                </a:solidFill>
                <a:latin typeface="Arial"/>
              </a:rPr>
              <a:t>WHY THIS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4871" y="3959352"/>
            <a:ext cx="2225040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Came with the donor, and is not confirmed on paper. It is the component the whole model hangs on, so it had to be 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Where the limits actually are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pic>
        <p:nvPicPr>
          <p:cNvPr id="8" name="Picture 7" descr="fig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53976"/>
            <a:ext cx="4443984" cy="24652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21808" y="896112"/>
            <a:ext cx="3255263" cy="694944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987552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2070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40 A  →  1.9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225295"/>
            <a:ext cx="10789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0392B"/>
                </a:solidFill>
                <a:latin typeface="Arial"/>
              </a:rPr>
              <a:t>this is the ceiling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1682495"/>
            <a:ext cx="3255263" cy="6949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773936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480"/>
                </a:solidFill>
                <a:latin typeface="Arial"/>
              </a:rPr>
              <a:t>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993391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120 A  →  9.1 N·m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011679"/>
            <a:ext cx="10789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9A2C"/>
                </a:solidFill>
                <a:latin typeface="Arial"/>
              </a:rPr>
              <a:t>no thermal protection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468879"/>
            <a:ext cx="3255263" cy="69494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560320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480"/>
                </a:solidFill>
                <a:latin typeface="Arial"/>
              </a:rPr>
              <a:t>VOLTAGE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79775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181F"/>
                </a:solidFill>
                <a:latin typeface="Arial"/>
              </a:rPr>
              <a:t>0.95 × 48 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98063"/>
            <a:ext cx="10789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29A2C"/>
                </a:solidFill>
                <a:latin typeface="Arial"/>
              </a:rPr>
              <a:t>sets top speed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1808" y="3346703"/>
            <a:ext cx="3255263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8112" y="3465576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WHAT THAT MEANS FOR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3730752"/>
            <a:ext cx="296265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81F"/>
                </a:solidFill>
                <a:latin typeface="Arial"/>
              </a:rPr>
              <a:t>The inverter, 70 A continuous, never shapes this curve — it limits how long the flat part can be held. The battery gets only what it takes to set the ceiling: no thermal model, not this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What the model needs, and where it comes from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pic>
        <p:nvPicPr>
          <p:cNvPr id="8" name="Picture 7" descr="fig_eq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88545"/>
            <a:ext cx="3931920" cy="26497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730752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480"/>
                </a:solidFill>
                <a:latin typeface="Arial"/>
              </a:rPr>
              <a:t>Three equations. Every symbol in them is a number someone has to go and measure.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859536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D4E9C"/>
                </a:solidFill>
                <a:latin typeface="Arial"/>
              </a:rPr>
              <a:t>MEASURED ON THIS VEHICLE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6592" y="1106424"/>
            <a:ext cx="3840479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1521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1521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115214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Hall pulse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56362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λm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156362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16.86 mWb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56362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back-EMF, scope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1929384"/>
            <a:ext cx="3840479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975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Kt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197510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0.0758 N·m/A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197510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derived from p and λm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23865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38658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28.0 mΩ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38658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inverter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6592" y="2752344"/>
            <a:ext cx="3840479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Ld / Lq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279806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99 / 113 µH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79806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inverter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32095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32095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1.56·10⁻⁴ kg·m²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20954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spin-down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3575304"/>
            <a:ext cx="3840479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362102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T₀ /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7568" y="362102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181F"/>
                </a:solidFill>
                <a:latin typeface="Arial"/>
              </a:rPr>
              <a:t>63 mN·m / 139 µN·m·s/rad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621024"/>
            <a:ext cx="10972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480"/>
                </a:solidFill>
                <a:latin typeface="Arial"/>
              </a:rPr>
              <a:t>spin-down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4050792"/>
            <a:ext cx="3840479" cy="475488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4160520"/>
            <a:ext cx="35661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None of this came from a datasheet. The datasheet was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the machine was measured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pic>
        <p:nvPicPr>
          <p:cNvPr id="8" name="Picture 7" descr="fig_backe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06" y="896112"/>
            <a:ext cx="7130986" cy="22494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3273552"/>
            <a:ext cx="2523744" cy="9692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383280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E7D32"/>
                </a:solidFill>
                <a:latin typeface="Arial"/>
              </a:rPr>
              <a:t>POLE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48456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Counted the Hall pulses over one turn of the sprocket: 25 against 25.1 predicted for p = 3, and 33.5 for p =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3273552"/>
            <a:ext cx="2523744" cy="9692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3383280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E7D32"/>
                </a:solidFill>
                <a:latin typeface="Arial"/>
              </a:rPr>
              <a:t>FLUX LINKAGE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48456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Motor off the inverter, dragged by a drill, scope across two phases. Two speeds agree to 0.17 %.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3273552"/>
            <a:ext cx="2523744" cy="9692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3383280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2E7D32"/>
                </a:solidFill>
                <a:latin typeface="Arial"/>
              </a:rPr>
              <a:t>INERTIA AND 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648456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4181F"/>
                </a:solidFill>
                <a:latin typeface="Arial"/>
              </a:rPr>
              <a:t>Three spin-downs anchored on the steady no-load point: J = 1.56·10⁻⁴ kg·m², plus dry and viscous friction.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334256"/>
            <a:ext cx="8010144" cy="365760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334256"/>
            <a:ext cx="764438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Next: a coast-down on the vehicle — rolling resistance, drag and vehicle inertia in one test. That is what the straight-line model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I learn, and what I refuse to delegate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32688"/>
            <a:ext cx="2511552" cy="2615184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932688"/>
            <a:ext cx="2511552" cy="42062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32688"/>
            <a:ext cx="2182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DERIVE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21823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i="0">
                <a:solidFill>
                  <a:srgbClr val="14181F"/>
                </a:solidFill>
                <a:latin typeface="Arial"/>
              </a:rPr>
              <a:t>A dragged-in FOC block gives a quad that works and an engineer who learned nothing.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50591"/>
            <a:ext cx="969264" cy="155448"/>
          </a:xfrm>
          <a:prstGeom prst="roundRect">
            <a:avLst>
              <a:gd name="adj" fmla="val 34000"/>
            </a:avLst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Clarke and Park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79"/>
            <a:ext cx="1025956" cy="155448"/>
          </a:xfrm>
          <a:prstGeom prst="roundRect">
            <a:avLst>
              <a:gd name="adj" fmla="val 34000"/>
            </a:avLst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current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44368"/>
            <a:ext cx="1025956" cy="155448"/>
          </a:xfrm>
          <a:prstGeom prst="roundRect">
            <a:avLst>
              <a:gd name="adj" fmla="val 34000"/>
            </a:avLst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vehicle dynamics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932688"/>
            <a:ext cx="2511552" cy="2615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224" y="932688"/>
            <a:ext cx="2511552" cy="420624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0816" y="932688"/>
            <a:ext cx="2182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COPY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0816" y="1517904"/>
            <a:ext cx="21823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i="0">
                <a:solidFill>
                  <a:srgbClr val="14181F"/>
                </a:solidFill>
                <a:latin typeface="Arial"/>
              </a:rPr>
              <a:t>No first principles there, and no shame about it. The budget for deriving goes where the learning 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80816" y="2450591"/>
            <a:ext cx="855878" cy="155448"/>
          </a:xfrm>
          <a:prstGeom prst="roundRect">
            <a:avLst>
              <a:gd name="adj" fmla="val 34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build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0816" y="2697479"/>
            <a:ext cx="629107" cy="155448"/>
          </a:xfrm>
          <a:prstGeom prst="roundRect">
            <a:avLst>
              <a:gd name="adj" fmla="val 34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protocols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0816" y="2944368"/>
            <a:ext cx="515721" cy="155448"/>
          </a:xfrm>
          <a:prstGeom prst="roundRect">
            <a:avLst>
              <a:gd name="adj" fmla="val 34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drivers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0816" y="3191256"/>
            <a:ext cx="799185" cy="155448"/>
          </a:xfrm>
          <a:prstGeom prst="roundRect">
            <a:avLst>
              <a:gd name="adj" fmla="val 34000"/>
            </a:avLst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file formats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520" y="932688"/>
            <a:ext cx="2511552" cy="26151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65520" y="932688"/>
            <a:ext cx="2511552" cy="42062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0112" y="932688"/>
            <a:ext cx="2182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LET THE AI FILE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0112" y="1517904"/>
            <a:ext cx="21823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1" i="0">
                <a:solidFill>
                  <a:srgbClr val="14181F"/>
                </a:solidFill>
                <a:latin typeface="Arial"/>
              </a:rPr>
              <a:t>Never the reasoning. An agent that hands me a conclusion I should have reached has negative value.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0112" y="2450591"/>
            <a:ext cx="969264" cy="155448"/>
          </a:xfrm>
          <a:prstGeom prst="roundRect">
            <a:avLst>
              <a:gd name="adj" fmla="val 34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notes and plots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0112" y="2697479"/>
            <a:ext cx="799185" cy="155448"/>
          </a:xfrm>
          <a:prstGeom prst="roundRect">
            <a:avLst>
              <a:gd name="adj" fmla="val 34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traceability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0112" y="2944368"/>
            <a:ext cx="685800" cy="155448"/>
          </a:xfrm>
          <a:prstGeom prst="roundRect">
            <a:avLst>
              <a:gd name="adj" fmla="val 34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formatting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0112" y="3191256"/>
            <a:ext cx="799185" cy="155448"/>
          </a:xfrm>
          <a:prstGeom prst="roundRect">
            <a:avLst>
              <a:gd name="adj" fmla="val 34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my own slips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12464"/>
            <a:ext cx="8010144" cy="53035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712464"/>
            <a:ext cx="760780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One Git repository holds the measurements, the decisions and the reasons behind them. Nothing important lives only in my 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the work is organised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pic>
        <p:nvPicPr>
          <p:cNvPr id="8" name="Picture 7" descr="fig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11480"/>
            <a:ext cx="3931920" cy="20941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4608" y="877824"/>
            <a:ext cx="37124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D4E9C"/>
                </a:solidFill>
                <a:latin typeface="Arial"/>
              </a:rPr>
              <a:t>THE 45 MINUTES WITH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4608" y="1243584"/>
            <a:ext cx="3712463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24358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7480"/>
                </a:solidFill>
                <a:latin typeface="Arial"/>
              </a:rP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243584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4181F"/>
                </a:solidFill>
                <a:latin typeface="Arial"/>
              </a:rPr>
              <a:t>What I said I would 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4608" y="1719072"/>
            <a:ext cx="3712463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719072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7480"/>
                </a:solidFill>
                <a:latin typeface="Arial"/>
              </a:rPr>
              <a:t>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719072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4181F"/>
                </a:solidFill>
                <a:latin typeface="Arial"/>
              </a:rPr>
              <a:t>What I did, with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2194560"/>
            <a:ext cx="3712463" cy="402336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2194560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4E9C"/>
                </a:solidFill>
                <a:latin typeface="Arial"/>
              </a:rPr>
              <a:t>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194560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What I do not understand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2670048"/>
            <a:ext cx="3712463" cy="402336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2670048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4E9C"/>
                </a:solidFill>
                <a:latin typeface="Arial"/>
              </a:rPr>
              <a:t>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670048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4181F"/>
                </a:solidFill>
                <a:latin typeface="Arial"/>
              </a:rPr>
              <a:t>Does the reasoning hold?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3145536"/>
            <a:ext cx="3712463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3145536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7480"/>
                </a:solidFill>
                <a:latin typeface="Arial"/>
              </a:rPr>
              <a:t>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145536"/>
            <a:ext cx="267004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4181F"/>
                </a:solidFill>
                <a:latin typeface="Arial"/>
              </a:rPr>
              <a:t>Goal of the next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675888"/>
            <a:ext cx="37124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480"/>
                </a:solidFill>
                <a:latin typeface="Arial"/>
              </a:rPr>
              <a:t>The middle twenty minutes are the point. A review where I only show what worked wastes two doctorates.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51376"/>
            <a:ext cx="8010144" cy="42062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151376"/>
            <a:ext cx="764438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If I cannot explain it out loud without notes, the cycle is not finished.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plan to December</a:t>
            </a:r>
          </a:p>
        </p:txBody>
      </p:sp>
      <p:pic>
        <p:nvPicPr>
          <p:cNvPr id="4" name="Picture 3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pic>
        <p:nvPicPr>
          <p:cNvPr id="8" name="Picture 7" descr="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896819"/>
            <a:ext cx="8010144" cy="23943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3364992"/>
            <a:ext cx="8010144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6499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D4E9C"/>
                </a:solidFill>
                <a:latin typeface="Arial"/>
              </a:rPr>
              <a:t>AFTER C06  · 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3364992"/>
            <a:ext cx="6135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4181F"/>
                </a:solidFill>
                <a:latin typeface="Arial"/>
              </a:rPr>
              <a:t>Control on the ESP32   ·   Traction and launch control   ·   MPC on a validated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95344"/>
            <a:ext cx="8010144" cy="640080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986783"/>
            <a:ext cx="7607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D4E9C"/>
                </a:solidFill>
                <a:latin typeface="Arial"/>
              </a:rPr>
              <a:t>End of 2026: a model validated against the real vehicle.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00" b="0" i="0">
                <a:solidFill>
                  <a:srgbClr val="14181F"/>
                </a:solidFill>
                <a:latin typeface="Arial"/>
              </a:rPr>
              <a:t>The machine came in ahead of plan, so C01 moves on to the vehicle.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0"/>
            <a:ext cx="7644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I need from you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3232" cy="804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50976"/>
            <a:ext cx="8010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E9BD6"/>
                </a:solidFill>
                <a:latin typeface="Arial"/>
              </a:rPr>
              <a:t>Three things. They are worth more to me than technical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3502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9BD6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353312"/>
            <a:ext cx="726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Hold me to 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645920"/>
            <a:ext cx="70774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8EFF9"/>
                </a:solidFill>
                <a:latin typeface="Arial"/>
              </a:rPr>
              <a:t>Without an external deadline I postpone indefinitely. The date being fixed is the mechanism — the meeting itself is secondary.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9BD6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212848"/>
            <a:ext cx="726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Attack the reasoning, not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505456"/>
            <a:ext cx="70774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8EFF9"/>
                </a:solidFill>
                <a:latin typeface="Arial"/>
              </a:rPr>
              <a:t>Do not ask whether the number is right. Ask why I chose that method, and what would have to be true for it to be wrong.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054096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E9BD6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72384"/>
            <a:ext cx="7260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Tell me when I explain badly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64991"/>
            <a:ext cx="70774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8EFF9"/>
                </a:solidFill>
                <a:latin typeface="Arial"/>
              </a:rPr>
              <a:t>If an explanation does not land, that is usually not a language problem. It is me not having understood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05072"/>
            <a:ext cx="8010144" cy="676656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05072"/>
            <a:ext cx="760780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Arial"/>
              </a:rPr>
              <a:t>What I am not asking for: that you validate field-oriented control or electric-machine theory. That gap I close elsewhere — you are not being examined on a domain that is not yours.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ip_field.jpg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0" y="0"/>
            <a:ext cx="9144000" cy="13373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37310"/>
            <a:ext cx="9144000" cy="438912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7310"/>
            <a:ext cx="801014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What I am asking for today</a:t>
            </a:r>
          </a:p>
        </p:txBody>
      </p:sp>
      <p:pic>
        <p:nvPicPr>
          <p:cNvPr id="5" name="Picture 4" descr="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51560" cy="1188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D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84632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OFF-ROAD EV PLATFORM  ·  Kickoff review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5950"/>
            <a:ext cx="2523744" cy="1572768"/>
          </a:xfrm>
          <a:prstGeom prst="rect">
            <a:avLst/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68830"/>
            <a:ext cx="21579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D4E9C"/>
                </a:solidFill>
                <a:latin typeface="Arial"/>
              </a:rPr>
              <a:t>12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5404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First full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83230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C01 — closing the vehicle side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885950"/>
            <a:ext cx="2523744" cy="15727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68830"/>
            <a:ext cx="21579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D4E9C"/>
                </a:solidFill>
                <a:latin typeface="Arial"/>
              </a:rPr>
              <a:t>Every 2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5404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Cadence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983230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Monday, 45 minutes, six reviews to December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1885950"/>
            <a:ext cx="2523744" cy="15727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068830"/>
            <a:ext cx="21579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D4E9C"/>
                </a:solidFill>
                <a:latin typeface="Arial"/>
              </a:rPr>
              <a:t>3 of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65404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81F"/>
                </a:solidFill>
                <a:latin typeface="Arial"/>
              </a:rPr>
              <a:t>Machine parameters 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983230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7480"/>
                </a:solidFill>
                <a:latin typeface="Arial"/>
              </a:rPr>
              <a:t>pole pairs · flux linkage · inertia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41598"/>
            <a:ext cx="8010144" cy="640080"/>
          </a:xfrm>
          <a:prstGeom prst="rect">
            <a:avLst/>
          </a:prstGeom>
          <a:solidFill>
            <a:srgbClr val="0F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641598"/>
            <a:ext cx="76078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Confirm the slot, and I will put all six review dates in the calendar before I leave.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