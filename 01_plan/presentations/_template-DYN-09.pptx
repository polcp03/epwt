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05FEEA-A91E-4431-97B6-BA17B309E51A}">
  <a:tblStyle styleId="{5E05FEEA-A91E-4431-97B6-BA17B309E5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149d51634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2149d5163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149d516344_0_3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2149d516344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0878e3f05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40878e3f0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"/>
              <a:t>Nombrar los objetivos. Que la mayoria sean </a:t>
            </a:r>
            <a:r>
              <a:rPr lang="ca"/>
              <a:t>numéricos</a:t>
            </a:r>
            <a:r>
              <a:rPr lang="ca"/>
              <a:t> EJ: weight reduction of 2,5 kg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0878e3f05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40878e3f0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"/>
              <a:t>En esta parte de la </a:t>
            </a:r>
            <a:r>
              <a:rPr lang="ca"/>
              <a:t>presentación</a:t>
            </a:r>
            <a:r>
              <a:rPr lang="ca"/>
              <a:t> vais a explicar todos los pasos que </a:t>
            </a:r>
            <a:r>
              <a:rPr lang="ca"/>
              <a:t>habéis</a:t>
            </a:r>
            <a:r>
              <a:rPr lang="ca"/>
              <a:t> seguido para cumplir con los objetivos establecidos para el diseño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0878e3f05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40878e3f0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"/>
              <a:t>Mostrar una vez fabricado el sistema una </a:t>
            </a:r>
            <a:r>
              <a:rPr lang="ca"/>
              <a:t>validación para comparar lo obtenido con los objetivos</a:t>
            </a:r>
            <a:r>
              <a:rPr lang="ca"/>
              <a:t>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0878e3f05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40878e3f0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"/>
              <a:t>Mostrar una </a:t>
            </a:r>
            <a:r>
              <a:rPr lang="ca"/>
              <a:t>gráfica</a:t>
            </a:r>
            <a:r>
              <a:rPr lang="ca"/>
              <a:t> con los objetivos que se </a:t>
            </a:r>
            <a:r>
              <a:rPr lang="ca"/>
              <a:t>establecen,</a:t>
            </a:r>
            <a:r>
              <a:rPr lang="ca"/>
              <a:t> los resultados obtenidos y demostrar que se han cumplido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0878e3f05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40878e3f0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ca"/>
              <a:t>Aquí una foto de la pieza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0878e3f05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40878e3f0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9612394a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d9612394a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9612394a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d9612394a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9612394a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9612394a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1050a4002_0_1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11050a4002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9612394a9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2d9612394a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ca"/>
              <a:t>Aquí una foto de la pieza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427625" y="530100"/>
            <a:ext cx="5242800" cy="40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4543175" y="2191050"/>
            <a:ext cx="30117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b="1"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1950" y="1781225"/>
            <a:ext cx="9144000" cy="29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4294967295" type="ctrTitle"/>
          </p:nvPr>
        </p:nvSpPr>
        <p:spPr>
          <a:xfrm>
            <a:off x="470650" y="1320729"/>
            <a:ext cx="60771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ca" sz="2400">
                <a:solidFill>
                  <a:srgbClr val="FFFFFF"/>
                </a:solidFill>
              </a:rPr>
              <a:t>RULES</a:t>
            </a:r>
            <a:endParaRPr b="1"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1950" y="1781225"/>
            <a:ext cx="9144000" cy="29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4294967295" type="ctrTitle"/>
          </p:nvPr>
        </p:nvSpPr>
        <p:spPr>
          <a:xfrm>
            <a:off x="470650" y="1320729"/>
            <a:ext cx="60771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ca" sz="2400">
                <a:solidFill>
                  <a:srgbClr val="FFFFFF"/>
                </a:solidFill>
              </a:rPr>
              <a:t>Objectives</a:t>
            </a:r>
            <a:endParaRPr b="1" sz="2400">
              <a:solidFill>
                <a:srgbClr val="FFFFFF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70650" y="2069200"/>
            <a:ext cx="7941600" cy="22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1950" y="1781225"/>
            <a:ext cx="9144000" cy="29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4294967295" type="ctrTitle"/>
          </p:nvPr>
        </p:nvSpPr>
        <p:spPr>
          <a:xfrm>
            <a:off x="470650" y="1320729"/>
            <a:ext cx="60771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ca" sz="2400">
                <a:solidFill>
                  <a:srgbClr val="FFFFFF"/>
                </a:solidFill>
              </a:rPr>
              <a:t>Design dilemas</a:t>
            </a:r>
            <a:endParaRPr b="1" sz="2400">
              <a:solidFill>
                <a:srgbClr val="FFFFFF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470650" y="2069200"/>
            <a:ext cx="7941600" cy="22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>
            <a:off x="1950" y="1781225"/>
            <a:ext cx="9144000" cy="29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4294967295" type="ctrTitle"/>
          </p:nvPr>
        </p:nvSpPr>
        <p:spPr>
          <a:xfrm>
            <a:off x="470650" y="1320729"/>
            <a:ext cx="60771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ca" sz="2400">
                <a:solidFill>
                  <a:srgbClr val="FFFFFF"/>
                </a:solidFill>
              </a:rPr>
              <a:t>Validations</a:t>
            </a:r>
            <a:endParaRPr b="1"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1950" y="1781225"/>
            <a:ext cx="9144000" cy="29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4294967295" type="ctrTitle"/>
          </p:nvPr>
        </p:nvSpPr>
        <p:spPr>
          <a:xfrm>
            <a:off x="341575" y="1320729"/>
            <a:ext cx="60771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ca" sz="2400">
                <a:solidFill>
                  <a:srgbClr val="FFFFFF"/>
                </a:solidFill>
              </a:rPr>
              <a:t>Results</a:t>
            </a:r>
            <a:endParaRPr b="1" sz="2400">
              <a:solidFill>
                <a:srgbClr val="FFFFFF"/>
              </a:solidFill>
            </a:endParaRPr>
          </a:p>
        </p:txBody>
      </p:sp>
      <p:graphicFrame>
        <p:nvGraphicFramePr>
          <p:cNvPr id="88" name="Google Shape;88;p18"/>
          <p:cNvGraphicFramePr/>
          <p:nvPr/>
        </p:nvGraphicFramePr>
        <p:xfrm>
          <a:off x="743650" y="2203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{5E05FEEA-A91E-4431-97B6-BA17B309E51A}</a:tableStyleId>
              </a:tblPr>
              <a:tblGrid>
                <a:gridCol w="1757650"/>
                <a:gridCol w="1757650"/>
                <a:gridCol w="1757650"/>
              </a:tblGrid>
              <a:tr h="52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Objectives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Resultus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15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Weight</a:t>
                      </a:r>
                      <a:r>
                        <a:rPr lang="ca">
                          <a:solidFill>
                            <a:schemeClr val="lt1"/>
                          </a:solidFill>
                        </a:rPr>
                        <a:t> Reduction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2,5 kg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chemeClr val="lt1"/>
                          </a:solidFill>
                        </a:rPr>
                        <a:t>2,7 kg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52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52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/>
          <p:nvPr/>
        </p:nvSpPr>
        <p:spPr>
          <a:xfrm>
            <a:off x="1431600" y="1820950"/>
            <a:ext cx="1062600" cy="8241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0"/>
          <p:cNvSpPr txBox="1"/>
          <p:nvPr/>
        </p:nvSpPr>
        <p:spPr>
          <a:xfrm>
            <a:off x="1392000" y="1304575"/>
            <a:ext cx="11418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lt1"/>
                </a:solidFill>
              </a:rPr>
              <a:t>¿Que?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99" name="Google Shape;99;p20"/>
          <p:cNvSpPr txBox="1"/>
          <p:nvPr/>
        </p:nvSpPr>
        <p:spPr>
          <a:xfrm>
            <a:off x="2494200" y="2645050"/>
            <a:ext cx="11418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lt1"/>
                </a:solidFill>
              </a:rPr>
              <a:t>¿Como?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200400" y="2645050"/>
            <a:ext cx="12312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lt1"/>
                </a:solidFill>
              </a:rPr>
              <a:t>¿Porque?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800" y="3196275"/>
            <a:ext cx="7266900" cy="14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3745375" y="1304575"/>
            <a:ext cx="4716300" cy="17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ca" sz="1800">
                <a:solidFill>
                  <a:schemeClr val="lt1"/>
                </a:solidFill>
              </a:rPr>
              <a:t>Tiempo Max 15 - 20 min</a:t>
            </a:r>
            <a:endParaRPr b="1"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ca" sz="1800">
                <a:solidFill>
                  <a:schemeClr val="lt1"/>
                </a:solidFill>
              </a:rPr>
              <a:t>Presentación</a:t>
            </a:r>
            <a:r>
              <a:rPr b="1" lang="ca" sz="1800">
                <a:solidFill>
                  <a:schemeClr val="lt1"/>
                </a:solidFill>
              </a:rPr>
              <a:t> visual sin mucho text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ca" sz="1800">
                <a:solidFill>
                  <a:schemeClr val="lt1"/>
                </a:solidFill>
              </a:rPr>
              <a:t>Objetivos y Datos </a:t>
            </a:r>
            <a:r>
              <a:rPr b="1" lang="ca" sz="1800">
                <a:solidFill>
                  <a:schemeClr val="lt1"/>
                </a:solidFill>
              </a:rPr>
              <a:t>Numéricos</a:t>
            </a:r>
            <a:endParaRPr b="1"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2015100" y="142850"/>
            <a:ext cx="51138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400">
                <a:solidFill>
                  <a:schemeClr val="lt1"/>
                </a:solidFill>
              </a:rPr>
              <a:t>Cosas para hacer un buen design</a:t>
            </a:r>
            <a:endParaRPr b="1"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